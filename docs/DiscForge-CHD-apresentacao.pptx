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bfed97089b4b4e" /><Relationship Type="http://schemas.openxmlformats.org/officeDocument/2006/relationships/extended-properties" Target="/docProps/app.xml" Id="Rbf8bc958fe1c4f44" /><Relationship Type="http://schemas.openxmlformats.org/officeDocument/2006/relationships/officeDocument" Target="/ppt/presentation.xml" Id="R69cbac68a18e4c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c63d28c73540b3"/>
  </p:sldMasterIdLst>
  <p:notesMasterIdLst>
    <p:notesMasterId xmlns:r="http://schemas.openxmlformats.org/officeDocument/2006/relationships" r:id="Re3377e5fe99a4945"/>
  </p:notesMasterIdLst>
  <p:sldIdLst>
    <p:sldId xmlns:r="http://schemas.openxmlformats.org/officeDocument/2006/relationships" id="256" r:id="R5e1f43d2ae4c42c6"/>
    <p:sldId xmlns:r="http://schemas.openxmlformats.org/officeDocument/2006/relationships" id="257" r:id="Rd2c83a9198b64d84"/>
    <p:sldId xmlns:r="http://schemas.openxmlformats.org/officeDocument/2006/relationships" id="258" r:id="Rb9bc9ff6bd0949e9"/>
    <p:sldId xmlns:r="http://schemas.openxmlformats.org/officeDocument/2006/relationships" id="259" r:id="R3fe1a61aeb794dc9"/>
    <p:sldId xmlns:r="http://schemas.openxmlformats.org/officeDocument/2006/relationships" id="260" r:id="Rd3534cbe58984fc6"/>
    <p:sldId xmlns:r="http://schemas.openxmlformats.org/officeDocument/2006/relationships" id="261" r:id="R73aa372327c34959"/>
    <p:sldId xmlns:r="http://schemas.openxmlformats.org/officeDocument/2006/relationships" id="262" r:id="R00dc5cf4f4ab48a7"/>
    <p:sldId xmlns:r="http://schemas.openxmlformats.org/officeDocument/2006/relationships" id="263" r:id="R8d263ef2fc014cff"/>
    <p:sldId xmlns:r="http://schemas.openxmlformats.org/officeDocument/2006/relationships" id="264" r:id="R9594ef40a7b44d27"/>
    <p:sldId xmlns:r="http://schemas.openxmlformats.org/officeDocument/2006/relationships" id="265" r:id="R1a944522b80a4edb"/>
    <p:sldId xmlns:r="http://schemas.openxmlformats.org/officeDocument/2006/relationships" id="266" r:id="Rfb575160d7404a83"/>
    <p:sldId xmlns:r="http://schemas.openxmlformats.org/officeDocument/2006/relationships" id="267" r:id="R45bf8991b37043ad"/>
    <p:sldId xmlns:r="http://schemas.openxmlformats.org/officeDocument/2006/relationships" id="268" r:id="R9d995cf26ec34e80"/>
    <p:sldId xmlns:r="http://schemas.openxmlformats.org/officeDocument/2006/relationships" id="269" r:id="Rc10957ddb0414375"/>
    <p:sldId xmlns:r="http://schemas.openxmlformats.org/officeDocument/2006/relationships" id="270" r:id="Rd664a11c77a64019"/>
    <p:sldId xmlns:r="http://schemas.openxmlformats.org/officeDocument/2006/relationships" id="271" r:id="Rbcfbbf016395458b"/>
    <p:sldId xmlns:r="http://schemas.openxmlformats.org/officeDocument/2006/relationships" id="272" r:id="R03d1c3a862ad4530"/>
    <p:sldId xmlns:r="http://schemas.openxmlformats.org/officeDocument/2006/relationships" id="273" r:id="R95018b0aa163436b"/>
    <p:sldId xmlns:r="http://schemas.openxmlformats.org/officeDocument/2006/relationships" id="274" r:id="Ra9319e6e4a4e4a21"/>
    <p:sldId xmlns:r="http://schemas.openxmlformats.org/officeDocument/2006/relationships" id="275" r:id="R6c7302a291194119"/>
    <p:sldId xmlns:r="http://schemas.openxmlformats.org/officeDocument/2006/relationships" id="276" r:id="Rc5773628574d4c7b"/>
    <p:sldId xmlns:r="http://schemas.openxmlformats.org/officeDocument/2006/relationships" id="277" r:id="R829a7d81a4a14f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b494a112534be0" /><Relationship Type="http://schemas.openxmlformats.org/officeDocument/2006/relationships/slideMaster" Target="/ppt/slideMasters/slideMaster1.xml" Id="R80c63d28c73540b3" /><Relationship Type="http://schemas.openxmlformats.org/officeDocument/2006/relationships/notesMaster" Target="/ppt/notesMasters/notesMaster1.xml" Id="Re3377e5fe99a4945" /><Relationship Type="http://schemas.openxmlformats.org/officeDocument/2006/relationships/presProps" Target="/ppt/presProps.xml" Id="R55f574a1f9a74576" /><Relationship Type="http://schemas.openxmlformats.org/officeDocument/2006/relationships/tableStyles" Target="/ppt/tableStyles.xml" Id="R94591e5b3ff24ba6" /><Relationship Type="http://schemas.openxmlformats.org/officeDocument/2006/relationships/slide" Target="/ppt/slides/slide1.xml" Id="R5e1f43d2ae4c42c6" /><Relationship Type="http://schemas.openxmlformats.org/officeDocument/2006/relationships/slide" Target="/ppt/slides/slide2.xml" Id="Rd2c83a9198b64d84" /><Relationship Type="http://schemas.openxmlformats.org/officeDocument/2006/relationships/slide" Target="/ppt/slides/slide3.xml" Id="Rb9bc9ff6bd0949e9" /><Relationship Type="http://schemas.openxmlformats.org/officeDocument/2006/relationships/slide" Target="/ppt/slides/slide4.xml" Id="R3fe1a61aeb794dc9" /><Relationship Type="http://schemas.openxmlformats.org/officeDocument/2006/relationships/slide" Target="/ppt/slides/slide5.xml" Id="Rd3534cbe58984fc6" /><Relationship Type="http://schemas.openxmlformats.org/officeDocument/2006/relationships/slide" Target="/ppt/slides/slide6.xml" Id="R73aa372327c34959" /><Relationship Type="http://schemas.openxmlformats.org/officeDocument/2006/relationships/slide" Target="/ppt/slides/slide7.xml" Id="R00dc5cf4f4ab48a7" /><Relationship Type="http://schemas.openxmlformats.org/officeDocument/2006/relationships/slide" Target="/ppt/slides/slide8.xml" Id="R8d263ef2fc014cff" /><Relationship Type="http://schemas.openxmlformats.org/officeDocument/2006/relationships/slide" Target="/ppt/slides/slide9.xml" Id="R9594ef40a7b44d27" /><Relationship Type="http://schemas.openxmlformats.org/officeDocument/2006/relationships/slide" Target="/ppt/slides/slide10.xml" Id="R1a944522b80a4edb" /><Relationship Type="http://schemas.openxmlformats.org/officeDocument/2006/relationships/slide" Target="/ppt/slides/slide11.xml" Id="Rfb575160d7404a83" /><Relationship Type="http://schemas.openxmlformats.org/officeDocument/2006/relationships/slide" Target="/ppt/slides/slide12.xml" Id="R45bf8991b37043ad" /><Relationship Type="http://schemas.openxmlformats.org/officeDocument/2006/relationships/slide" Target="/ppt/slides/slide13.xml" Id="R9d995cf26ec34e80" /><Relationship Type="http://schemas.openxmlformats.org/officeDocument/2006/relationships/slide" Target="/ppt/slides/slide14.xml" Id="Rc10957ddb0414375" /><Relationship Type="http://schemas.openxmlformats.org/officeDocument/2006/relationships/slide" Target="/ppt/slides/slide15.xml" Id="Rd664a11c77a64019" /><Relationship Type="http://schemas.openxmlformats.org/officeDocument/2006/relationships/slide" Target="/ppt/slides/slide16.xml" Id="Rbcfbbf016395458b" /><Relationship Type="http://schemas.openxmlformats.org/officeDocument/2006/relationships/slide" Target="/ppt/slides/slide17.xml" Id="R03d1c3a862ad4530" /><Relationship Type="http://schemas.openxmlformats.org/officeDocument/2006/relationships/slide" Target="/ppt/slides/slide18.xml" Id="R95018b0aa163436b" /><Relationship Type="http://schemas.openxmlformats.org/officeDocument/2006/relationships/slide" Target="/ppt/slides/slide19.xml" Id="Ra9319e6e4a4e4a21" /><Relationship Type="http://schemas.openxmlformats.org/officeDocument/2006/relationships/slide" Target="/ppt/slides/slide20.xml" Id="R6c7302a291194119" /><Relationship Type="http://schemas.openxmlformats.org/officeDocument/2006/relationships/slide" Target="/ppt/slides/slide21.xml" Id="Rc5773628574d4c7b" /><Relationship Type="http://schemas.openxmlformats.org/officeDocument/2006/relationships/slide" Target="/ppt/slides/slide22.xml" Id="R829a7d81a4a14f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a2eb84938e40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ae24e747db4915" /><Relationship Type="http://schemas.openxmlformats.org/officeDocument/2006/relationships/notesMaster" Target="/ppt/notesMasters/notesMaster1.xml" Id="R40606b21e1d04e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3f4db3f78f4171" /><Relationship Type="http://schemas.openxmlformats.org/officeDocument/2006/relationships/notesMaster" Target="/ppt/notesMasters/notesMaster1.xml" Id="Rdd8c1ccb83b542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06231ea4394816" /><Relationship Type="http://schemas.openxmlformats.org/officeDocument/2006/relationships/notesMaster" Target="/ppt/notesMasters/notesMaster1.xml" Id="Rcc828066f81e4f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346ce6235348ca" /><Relationship Type="http://schemas.openxmlformats.org/officeDocument/2006/relationships/notesMaster" Target="/ppt/notesMasters/notesMaster1.xml" Id="Rd317dc86129843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1876611e5d41fc" /><Relationship Type="http://schemas.openxmlformats.org/officeDocument/2006/relationships/notesMaster" Target="/ppt/notesMasters/notesMaster1.xml" Id="R196fcac7f57843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6c0203dbbd4e7b" /><Relationship Type="http://schemas.openxmlformats.org/officeDocument/2006/relationships/notesMaster" Target="/ppt/notesMasters/notesMaster1.xml" Id="Rd5f2583f1cff48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be7b82d6fe42a7" /><Relationship Type="http://schemas.openxmlformats.org/officeDocument/2006/relationships/notesMaster" Target="/ppt/notesMasters/notesMaster1.xml" Id="R7dcd81d35bfa45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1b4e0380174354" /><Relationship Type="http://schemas.openxmlformats.org/officeDocument/2006/relationships/notesMaster" Target="/ppt/notesMasters/notesMaster1.xml" Id="R9e46a8e84ada44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d1ca3a1a094bdc" /><Relationship Type="http://schemas.openxmlformats.org/officeDocument/2006/relationships/notesMaster" Target="/ppt/notesMasters/notesMaster1.xml" Id="Rcb7b5cfcdd1647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33819492234f4f" /><Relationship Type="http://schemas.openxmlformats.org/officeDocument/2006/relationships/notesMaster" Target="/ppt/notesMasters/notesMaster1.xml" Id="R0ee06f6cc63f450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1b4cb14d614c4f" /><Relationship Type="http://schemas.openxmlformats.org/officeDocument/2006/relationships/notesMaster" Target="/ppt/notesMasters/notesMaster1.xml" Id="Rf002d717bff54f3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68a34b07a74c92" /><Relationship Type="http://schemas.openxmlformats.org/officeDocument/2006/relationships/notesMaster" Target="/ppt/notesMasters/notesMaster1.xml" Id="R0f10d9983e184b2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7971fe6d3054ca9" /><Relationship Type="http://schemas.openxmlformats.org/officeDocument/2006/relationships/notesMaster" Target="/ppt/notesMasters/notesMaster1.xml" Id="R4b22a92ac29647f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e26376891e841f6" /><Relationship Type="http://schemas.openxmlformats.org/officeDocument/2006/relationships/notesMaster" Target="/ppt/notesMasters/notesMaster1.xml" Id="Rb4795099d9ed48d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ac6b5d024924703" /><Relationship Type="http://schemas.openxmlformats.org/officeDocument/2006/relationships/notesMaster" Target="/ppt/notesMasters/notesMaster1.xml" Id="Ra388eaa4cc604fb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f639eb9a4c44cc7" /><Relationship Type="http://schemas.openxmlformats.org/officeDocument/2006/relationships/notesMaster" Target="/ppt/notesMasters/notesMaster1.xml" Id="R5d6dc008ae8548a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8186c6d49f445f5" /><Relationship Type="http://schemas.openxmlformats.org/officeDocument/2006/relationships/notesMaster" Target="/ppt/notesMasters/notesMaster1.xml" Id="R7074c94d3c604ab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fe4cf7e19334576" /><Relationship Type="http://schemas.openxmlformats.org/officeDocument/2006/relationships/notesMaster" Target="/ppt/notesMasters/notesMaster1.xml" Id="R08224a75eed0444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ff2971f59234751" /><Relationship Type="http://schemas.openxmlformats.org/officeDocument/2006/relationships/notesMaster" Target="/ppt/notesMasters/notesMaster1.xml" Id="R4415b6c021e9442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066af91c92548c7" /><Relationship Type="http://schemas.openxmlformats.org/officeDocument/2006/relationships/notesMaster" Target="/ppt/notesMasters/notesMaster1.xml" Id="R58f5d2e913ee4cd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3652f437054486f" /><Relationship Type="http://schemas.openxmlformats.org/officeDocument/2006/relationships/notesMaster" Target="/ppt/notesMasters/notesMaster1.xml" Id="R446aa706a7c24f2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6e5e0340da14a55" /><Relationship Type="http://schemas.openxmlformats.org/officeDocument/2006/relationships/notesMaster" Target="/ppt/notesMasters/notesMaster1.xml" Id="Raccc01f37b0640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Referências no repositório: README.md; LEIA-ME.txt</a:t>
            </a:r>
          </a:p>
          <a:p xmlns:a="http://schemas.openxmlformats.org/drawingml/2006/main">
            <a:r>
              <a:t>https://github.com/Suicideboyy/DiscForge-CHD/tree/34a44a1</a:t>
            </a:r>
          </a:p>
          <a:p xmlns:a="http://schemas.openxmlformats.org/drawingml/2006/main">
            <a:r>
              <a:t>Base: revisão 34a44a1, consultada em 21/09/2026.</a:t>
            </a:r>
          </a:p>
          <a:p xmlns:a="http://schemas.openxmlformats.org/drawingml/2006/main">
            <a:r>
              <a:t>https://github.com/Suicideboyy/DiscForge-CHD/blob/34a44a1/README.md</a:t>
            </a:r>
          </a:p>
          <a:p xmlns:a="http://schemas.openxmlformats.org/drawingml/2006/main">
            <a:r>
              <a:t>https://github.com/Suicideboyy/DiscForge-CHD/blob/34a44a1/LEIA-ME.txt</a:t>
            </a:r>
          </a:p>
          <a:p xmlns:a="http://schemas.openxmlformats.org/drawingml/2006/main">
            <a:r>
              <a:t>Rótulos no slide distinguem implementação, inferência e proposta.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Referências no repositório: README.md; LEIA-ME.txt; TESTES.txt</a:t>
            </a:r>
          </a:p>
          <a:p xmlns:a="http://schemas.openxmlformats.org/drawingml/2006/main">
            <a:r>
              <a:t>https://github.com/Suicideboyy/DiscForge-CHD/tree/34a44a1</a:t>
            </a:r>
          </a:p>
          <a:p xmlns:a="http://schemas.openxmlformats.org/drawingml/2006/main">
            <a:r>
              <a:t>Base: revisão 34a44a1, consultada em 21/09/2026.</a:t>
            </a:r>
          </a:p>
          <a:p xmlns:a="http://schemas.openxmlformats.org/drawingml/2006/main">
            <a:r>
              <a:t>https://github.com/Suicideboyy/DiscForge-CHD/blob/34a44a1/README.md</a:t>
            </a:r>
          </a:p>
          <a:p xmlns:a="http://schemas.openxmlformats.org/drawingml/2006/main">
            <a:r>
              <a:t>https://github.com/Suicideboyy/DiscForge-CHD/blob/34a44a1/LEIA-ME.txt</a:t>
            </a:r>
          </a:p>
          <a:p xmlns:a="http://schemas.openxmlformats.org/drawingml/2006/main">
            <a:r>
              <a:t>https://github.com/Suicideboyy/DiscForge-CHD/blob/34a44a1/TESTES.txt</a:t>
            </a:r>
          </a:p>
          <a:p xmlns:a="http://schemas.openxmlformats.org/drawingml/2006/main">
            <a:r>
              <a:t>Rótulos no slide distinguem implementação, inferência e proposta.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Referências no repositório: README.md; fontes/Processing/ConversionSession.Encoding.cs; TESTES.txt</a:t>
            </a:r>
          </a:p>
          <a:p xmlns:a="http://schemas.openxmlformats.org/drawingml/2006/main">
            <a:r>
              <a:t>https://github.com/Suicideboyy/DiscForge-CHD/tree/34a44a1</a:t>
            </a:r>
          </a:p>
          <a:p xmlns:a="http://schemas.openxmlformats.org/drawingml/2006/main">
            <a:r>
              <a:t>Base: revisão 34a44a1, consultada em 21/09/2026.</a:t>
            </a:r>
          </a:p>
          <a:p xmlns:a="http://schemas.openxmlformats.org/drawingml/2006/main">
            <a:r>
              <a:t>https://github.com/Suicideboyy/DiscForge-CHD/blob/34a44a1/README.md</a:t>
            </a:r>
          </a:p>
          <a:p xmlns:a="http://schemas.openxmlformats.org/drawingml/2006/main">
            <a:r>
              <a:t>https://github.com/Suicideboyy/DiscForge-CHD/blob/34a44a1/fontes/Processing/ConversionSession.Encoding.cs</a:t>
            </a:r>
          </a:p>
          <a:p xmlns:a="http://schemas.openxmlformats.org/drawingml/2006/main">
            <a:r>
              <a:t>https://github.com/Suicideboyy/DiscForge-CHD/blob/34a44a1/TESTES.txt</a:t>
            </a:r>
          </a:p>
          <a:p xmlns:a="http://schemas.openxmlformats.org/drawingml/2006/main">
            <a:r>
              <a:t>Rótulos no slide distinguem implementação, inferência e proposta.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Referências no repositório: LEIA-ME.txt; PUBLICACAO.md</a:t>
            </a:r>
          </a:p>
          <a:p xmlns:a="http://schemas.openxmlformats.org/drawingml/2006/main">
            <a:r>
              <a:t>https://github.com/Suicideboyy/DiscForge-CHD/tree/34a44a1</a:t>
            </a:r>
          </a:p>
          <a:p xmlns:a="http://schemas.openxmlformats.org/drawingml/2006/main">
            <a:r>
              <a:t>Base: revisão 34a44a1, consultada em 21/09/2026.</a:t>
            </a:r>
          </a:p>
          <a:p xmlns:a="http://schemas.openxmlformats.org/drawingml/2006/main">
            <a:r>
              <a:t>https://github.com/Suicideboyy/DiscForge-CHD/blob/34a44a1/LEIA-ME.txt</a:t>
            </a:r>
          </a:p>
          <a:p xmlns:a="http://schemas.openxmlformats.org/drawingml/2006/main">
            <a:r>
              <a:t>https://github.com/Suicideboyy/DiscForge-CHD/blob/34a44a1/PUBLICACAO.md</a:t>
            </a:r>
          </a:p>
          <a:p xmlns:a="http://schemas.openxmlformats.org/drawingml/2006/main">
            <a:r>
              <a:t>Rótulos no slide distinguem implementação, inferência e proposta.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Referências no repositório: fontes/Processing/ConversionSession.cs; fontes/Processing/ConversionSession.Encoding.cs; fontes/Services/GameDatabase.cs; fontes/Services/CoverService.cs</a:t>
            </a:r>
          </a:p>
          <a:p xmlns:a="http://schemas.openxmlformats.org/drawingml/2006/main">
            <a:r>
              <a:t>https://github.com/Suicideboyy/DiscForge-CHD/tree/34a44a1</a:t>
            </a:r>
          </a:p>
          <a:p xmlns:a="http://schemas.openxmlformats.org/drawingml/2006/main">
            <a:r>
              <a:t>Base: revisão 34a44a1, consultada em 21/09/2026.</a:t>
            </a:r>
          </a:p>
          <a:p xmlns:a="http://schemas.openxmlformats.org/drawingml/2006/main">
            <a:r>
              <a:t>https://github.com/Suicideboyy/DiscForge-CHD/blob/34a44a1/fontes/Processing/ConversionSession.cs</a:t>
            </a:r>
          </a:p>
          <a:p xmlns:a="http://schemas.openxmlformats.org/drawingml/2006/main">
            <a:r>
              <a:t>https://github.com/Suicideboyy/DiscForge-CHD/blob/34a44a1/fontes/Processing/ConversionSession.Encoding.cs</a:t>
            </a:r>
          </a:p>
          <a:p xmlns:a="http://schemas.openxmlformats.org/drawingml/2006/main">
            <a:r>
              <a:t>https://github.com/Suicideboyy/DiscForge-CHD/blob/34a44a1/fontes/Services/GameDatabase.cs</a:t>
            </a:r>
          </a:p>
          <a:p xmlns:a="http://schemas.openxmlformats.org/drawingml/2006/main">
            <a:r>
              <a:t>https://github.com/Suicideboyy/DiscForge-CHD/blob/34a44a1/fontes/Services/CoverService.cs</a:t>
            </a:r>
          </a:p>
          <a:p xmlns:a="http://schemas.openxmlformats.org/drawingml/2006/main">
            <a:r>
              <a:t>Rótulos no slide distinguem implementação, inferência e proposta.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Referências no repositório: fontes/Processing/ConversionSession.cs; fontes/Processing/ConversionSession.Resume.cs; fontes/Processing/ConversionSession.Encoding.cs</a:t>
            </a:r>
          </a:p>
          <a:p xmlns:a="http://schemas.openxmlformats.org/drawingml/2006/main">
            <a:r>
              <a:t>https://github.com/Suicideboyy/DiscForge-CHD/tree/34a44a1</a:t>
            </a:r>
          </a:p>
          <a:p xmlns:a="http://schemas.openxmlformats.org/drawingml/2006/main">
            <a:r>
              <a:t>Base: revisão 34a44a1, consultada em 21/09/2026.</a:t>
            </a:r>
          </a:p>
          <a:p xmlns:a="http://schemas.openxmlformats.org/drawingml/2006/main">
            <a:r>
              <a:t>https://github.com/Suicideboyy/DiscForge-CHD/blob/34a44a1/fontes/Processing/ConversionSession.cs</a:t>
            </a:r>
          </a:p>
          <a:p xmlns:a="http://schemas.openxmlformats.org/drawingml/2006/main">
            <a:r>
              <a:t>https://github.com/Suicideboyy/DiscForge-CHD/blob/34a44a1/fontes/Processing/ConversionSession.Resume.cs</a:t>
            </a:r>
          </a:p>
          <a:p xmlns:a="http://schemas.openxmlformats.org/drawingml/2006/main">
            <a:r>
              <a:t>https://github.com/Suicideboyy/DiscForge-CHD/blob/34a44a1/fontes/Processing/ConversionSession.Encoding.cs</a:t>
            </a:r>
          </a:p>
          <a:p xmlns:a="http://schemas.openxmlformats.org/drawingml/2006/main">
            <a:r>
              <a:t>Rótulos no slide distinguem implementação, inferência e proposta.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Referências no repositório: fontes/README.md; fontes/Application/Program.cs; fontes/compilar.ps1; fontes/Services/GameDatabase.cs</a:t>
            </a:r>
          </a:p>
          <a:p xmlns:a="http://schemas.openxmlformats.org/drawingml/2006/main">
            <a:r>
              <a:t>https://github.com/Suicideboyy/DiscForge-CHD/tree/34a44a1</a:t>
            </a:r>
          </a:p>
          <a:p xmlns:a="http://schemas.openxmlformats.org/drawingml/2006/main">
            <a:r>
              <a:t>Base: revisão 34a44a1, consultada em 21/09/2026.</a:t>
            </a:r>
          </a:p>
          <a:p xmlns:a="http://schemas.openxmlformats.org/drawingml/2006/main">
            <a:r>
              <a:t>https://github.com/Suicideboyy/DiscForge-CHD/blob/34a44a1/fontes/README.md</a:t>
            </a:r>
          </a:p>
          <a:p xmlns:a="http://schemas.openxmlformats.org/drawingml/2006/main">
            <a:r>
              <a:t>https://github.com/Suicideboyy/DiscForge-CHD/blob/34a44a1/fontes/Application/Program.cs</a:t>
            </a:r>
          </a:p>
          <a:p xmlns:a="http://schemas.openxmlformats.org/drawingml/2006/main">
            <a:r>
              <a:t>https://github.com/Suicideboyy/DiscForge-CHD/blob/34a44a1/fontes/compilar.ps1</a:t>
            </a:r>
          </a:p>
          <a:p xmlns:a="http://schemas.openxmlformats.org/drawingml/2006/main">
            <a:r>
              <a:t>https://github.com/Suicideboyy/DiscForge-CHD/blob/34a44a1/fontes/Services/GameDatabase.cs</a:t>
            </a:r>
          </a:p>
          <a:p xmlns:a="http://schemas.openxmlformats.org/drawingml/2006/main">
            <a:r>
              <a:t>Rótulos no slide distinguem implementação, inferência e proposta.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Referências no repositório: fontes/Configuration/EncoderSettings.cs; fontes/Processing/ConversionSession.cs; fontes/Processing/ConversionSession.Encoding.cs</a:t>
            </a:r>
          </a:p>
          <a:p xmlns:a="http://schemas.openxmlformats.org/drawingml/2006/main">
            <a:r>
              <a:t>https://github.com/Suicideboyy/DiscForge-CHD/tree/34a44a1</a:t>
            </a:r>
          </a:p>
          <a:p xmlns:a="http://schemas.openxmlformats.org/drawingml/2006/main">
            <a:r>
              <a:t>Base: revisão 34a44a1, consultada em 21/09/2026.</a:t>
            </a:r>
          </a:p>
          <a:p xmlns:a="http://schemas.openxmlformats.org/drawingml/2006/main">
            <a:r>
              <a:t>https://github.com/Suicideboyy/DiscForge-CHD/blob/34a44a1/fontes/Configuration/EncoderSettings.cs</a:t>
            </a:r>
          </a:p>
          <a:p xmlns:a="http://schemas.openxmlformats.org/drawingml/2006/main">
            <a:r>
              <a:t>https://github.com/Suicideboyy/DiscForge-CHD/blob/34a44a1/fontes/Processing/ConversionSession.cs</a:t>
            </a:r>
          </a:p>
          <a:p xmlns:a="http://schemas.openxmlformats.org/drawingml/2006/main">
            <a:r>
              <a:t>https://github.com/Suicideboyy/DiscForge-CHD/blob/34a44a1/fontes/Processing/ConversionSession.Encoding.cs</a:t>
            </a:r>
          </a:p>
          <a:p xmlns:a="http://schemas.openxmlformats.org/drawingml/2006/main">
            <a:r>
              <a:t>Rótulos no slide distinguem implementação, inferência e proposta.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Referências no repositório: fontes/Processing/ConversionSession.cs; fontes/Processing/ConversionSession.Resume.cs; fontes/Processing/ConversionSession.Encoding.cs</a:t>
            </a:r>
          </a:p>
          <a:p xmlns:a="http://schemas.openxmlformats.org/drawingml/2006/main">
            <a:r>
              <a:t>https://github.com/Suicideboyy/DiscForge-CHD/tree/34a44a1</a:t>
            </a:r>
          </a:p>
          <a:p xmlns:a="http://schemas.openxmlformats.org/drawingml/2006/main">
            <a:r>
              <a:t>Base: revisão 34a44a1, consultada em 21/09/2026.</a:t>
            </a:r>
          </a:p>
          <a:p xmlns:a="http://schemas.openxmlformats.org/drawingml/2006/main">
            <a:r>
              <a:t>https://github.com/Suicideboyy/DiscForge-CHD/blob/34a44a1/fontes/Processing/ConversionSession.cs</a:t>
            </a:r>
          </a:p>
          <a:p xmlns:a="http://schemas.openxmlformats.org/drawingml/2006/main">
            <a:r>
              <a:t>https://github.com/Suicideboyy/DiscForge-CHD/blob/34a44a1/fontes/Processing/ConversionSession.Resume.cs</a:t>
            </a:r>
          </a:p>
          <a:p xmlns:a="http://schemas.openxmlformats.org/drawingml/2006/main">
            <a:r>
              <a:t>https://github.com/Suicideboyy/DiscForge-CHD/blob/34a44a1/fontes/Processing/ConversionSession.Encoding.cs</a:t>
            </a:r>
          </a:p>
          <a:p xmlns:a="http://schemas.openxmlformats.org/drawingml/2006/main">
            <a:r>
              <a:t>Rótulos no slide distinguem implementação, inferência e proposta.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Referências no repositório: fontes/Processing/ConversionSession.Encoding.cs; TESTES.txt</a:t>
            </a:r>
          </a:p>
          <a:p xmlns:a="http://schemas.openxmlformats.org/drawingml/2006/main">
            <a:r>
              <a:t>https://github.com/Suicideboyy/DiscForge-CHD/tree/34a44a1</a:t>
            </a:r>
          </a:p>
          <a:p xmlns:a="http://schemas.openxmlformats.org/drawingml/2006/main">
            <a:r>
              <a:t>Base: revisão 34a44a1, consultada em 21/09/2026.</a:t>
            </a:r>
          </a:p>
          <a:p xmlns:a="http://schemas.openxmlformats.org/drawingml/2006/main">
            <a:r>
              <a:t>https://github.com/Suicideboyy/DiscForge-CHD/blob/34a44a1/fontes/Processing/ConversionSession.Encoding.cs</a:t>
            </a:r>
          </a:p>
          <a:p xmlns:a="http://schemas.openxmlformats.org/drawingml/2006/main">
            <a:r>
              <a:t>https://github.com/Suicideboyy/DiscForge-CHD/blob/34a44a1/TESTES.txt</a:t>
            </a:r>
          </a:p>
          <a:p xmlns:a="http://schemas.openxmlformats.org/drawingml/2006/main">
            <a:r>
              <a:t>Rótulos no slide distinguem implementação, inferência e proposta.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Referências no repositório: fontes/Processing/ConversionSession.cs; fontes/Processing/ConversionSession.Resume.cs; TESTES.txt</a:t>
            </a:r>
          </a:p>
          <a:p xmlns:a="http://schemas.openxmlformats.org/drawingml/2006/main">
            <a:r>
              <a:t>https://github.com/Suicideboyy/DiscForge-CHD/tree/34a44a1</a:t>
            </a:r>
          </a:p>
          <a:p xmlns:a="http://schemas.openxmlformats.org/drawingml/2006/main">
            <a:r>
              <a:t>Base: revisão 34a44a1, consultada em 21/09/2026.</a:t>
            </a:r>
          </a:p>
          <a:p xmlns:a="http://schemas.openxmlformats.org/drawingml/2006/main">
            <a:r>
              <a:t>https://github.com/Suicideboyy/DiscForge-CHD/blob/34a44a1/fontes/Processing/ConversionSession.cs</a:t>
            </a:r>
          </a:p>
          <a:p xmlns:a="http://schemas.openxmlformats.org/drawingml/2006/main">
            <a:r>
              <a:t>https://github.com/Suicideboyy/DiscForge-CHD/blob/34a44a1/fontes/Processing/ConversionSession.Resume.cs</a:t>
            </a:r>
          </a:p>
          <a:p xmlns:a="http://schemas.openxmlformats.org/drawingml/2006/main">
            <a:r>
              <a:t>https://github.com/Suicideboyy/DiscForge-CHD/blob/34a44a1/TESTES.txt</a:t>
            </a:r>
          </a:p>
          <a:p xmlns:a="http://schemas.openxmlformats.org/drawingml/2006/main">
            <a:r>
              <a:t>Rótulos no slide distinguem implementação, inferência e proposta.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Referências no repositório: fontes/Configuration/EncoderSettings.cs; fontes/Processing/ConversionSession*.cs; fontes/Services</a:t>
            </a:r>
          </a:p>
          <a:p xmlns:a="http://schemas.openxmlformats.org/drawingml/2006/main">
            <a:r>
              <a:t>https://github.com/Suicideboyy/DiscForge-CHD/tree/34a44a1</a:t>
            </a:r>
          </a:p>
          <a:p xmlns:a="http://schemas.openxmlformats.org/drawingml/2006/main">
            <a:r>
              <a:t>Base: revisão 34a44a1, consultada em 21/09/2026.</a:t>
            </a:r>
          </a:p>
          <a:p xmlns:a="http://schemas.openxmlformats.org/drawingml/2006/main">
            <a:r>
              <a:t>https://github.com/Suicideboyy/DiscForge-CHD/blob/34a44a1/fontes/Configuration/EncoderSettings.cs</a:t>
            </a:r>
          </a:p>
          <a:p xmlns:a="http://schemas.openxmlformats.org/drawingml/2006/main">
            <a:r>
              <a:t>https://github.com/Suicideboyy/DiscForge-CHD/blob/34a44a1/fontes/Services</a:t>
            </a:r>
          </a:p>
          <a:p xmlns:a="http://schemas.openxmlformats.org/drawingml/2006/main">
            <a:r>
              <a:t>Rótulos no slide distinguem implementação, inferência e proposta.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Referências no repositório: fontes/Storage/FileSystemPaths.cs; fontes/Services; LEIA-ME.txt; TESTES.txt</a:t>
            </a:r>
          </a:p>
          <a:p xmlns:a="http://schemas.openxmlformats.org/drawingml/2006/main">
            <a:r>
              <a:t>https://github.com/Suicideboyy/DiscForge-CHD/tree/34a44a1</a:t>
            </a:r>
          </a:p>
          <a:p xmlns:a="http://schemas.openxmlformats.org/drawingml/2006/main">
            <a:r>
              <a:t>Base: revisão 34a44a1, consultada em 21/09/2026.</a:t>
            </a:r>
          </a:p>
          <a:p xmlns:a="http://schemas.openxmlformats.org/drawingml/2006/main">
            <a:r>
              <a:t>https://github.com/Suicideboyy/DiscForge-CHD/blob/34a44a1/fontes/Storage/FileSystemPaths.cs</a:t>
            </a:r>
          </a:p>
          <a:p xmlns:a="http://schemas.openxmlformats.org/drawingml/2006/main">
            <a:r>
              <a:t>https://github.com/Suicideboyy/DiscForge-CHD/blob/34a44a1/fontes/Services</a:t>
            </a:r>
          </a:p>
          <a:p xmlns:a="http://schemas.openxmlformats.org/drawingml/2006/main">
            <a:r>
              <a:t>https://github.com/Suicideboyy/DiscForge-CHD/blob/34a44a1/LEIA-ME.txt</a:t>
            </a:r>
          </a:p>
          <a:p xmlns:a="http://schemas.openxmlformats.org/drawingml/2006/main">
            <a:r>
              <a:t>https://github.com/Suicideboyy/DiscForge-CHD/blob/34a44a1/TESTES.txt</a:t>
            </a:r>
          </a:p>
          <a:p xmlns:a="http://schemas.openxmlformats.org/drawingml/2006/main">
            <a:r>
              <a:t>Rótulos no slide distinguem implementação, inferência e proposta.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Referências no repositório: Proposta de processo para este projeto. O repositório não demonstra adoção formal de Scrum ou Kanban.</a:t>
            </a:r>
          </a:p>
          <a:p xmlns:a="http://schemas.openxmlformats.org/drawingml/2006/main">
            <a:r>
              <a:t>https://github.com/Suicideboyy/DiscForge-CHD/tree/34a44a1</a:t>
            </a:r>
          </a:p>
          <a:p xmlns:a="http://schemas.openxmlformats.org/drawingml/2006/main">
            <a:r>
              <a:t>Base: revisão 34a44a1, consultada em 21/09/2026.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Rótulos no slide distinguem implementação, inferência e proposta.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Referências no repositório: Proposta. Referências de publicação: PUBLICACAO.md; Publicar.ps1.</a:t>
            </a:r>
          </a:p>
          <a:p xmlns:a="http://schemas.openxmlformats.org/drawingml/2006/main">
            <a:r>
              <a:t>https://github.com/Suicideboyy/DiscForge-CHD/tree/34a44a1</a:t>
            </a:r>
          </a:p>
          <a:p xmlns:a="http://schemas.openxmlformats.org/drawingml/2006/main">
            <a:r>
              <a:t>Base: revisão 34a44a1, consultada em 21/09/2026.</a:t>
            </a:r>
          </a:p>
          <a:p xmlns:a="http://schemas.openxmlformats.org/drawingml/2006/main">
            <a:r>
              <a:t>https://github.com/Suicideboyy/DiscForge-CHD/blob/34a44a1/Publicar.ps1.</a:t>
            </a:r>
          </a:p>
          <a:p xmlns:a="http://schemas.openxmlformats.org/drawingml/2006/main">
            <a:r>
              <a:t>Rótulos no slide distinguem implementação, inferência e proposta.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Referências no repositório: Propostas fundamentadas em TESTES.txt; LEIA-ME.txt; fontes/Processing/ConversionSession.Resume.cs.</a:t>
            </a:r>
          </a:p>
          <a:p xmlns:a="http://schemas.openxmlformats.org/drawingml/2006/main">
            <a:r>
              <a:t>https://github.com/Suicideboyy/DiscForge-CHD/tree/34a44a1</a:t>
            </a:r>
          </a:p>
          <a:p xmlns:a="http://schemas.openxmlformats.org/drawingml/2006/main">
            <a:r>
              <a:t>Base: revisão 34a44a1, consultada em 21/09/2026.</a:t>
            </a:r>
          </a:p>
          <a:p xmlns:a="http://schemas.openxmlformats.org/drawingml/2006/main">
            <a:r>
              <a:t>https://github.com/Suicideboyy/DiscForge-CHD/blob/34a44a1/LEIA-ME.txt</a:t>
            </a:r>
          </a:p>
          <a:p xmlns:a="http://schemas.openxmlformats.org/drawingml/2006/main">
            <a:r>
              <a:t>https://github.com/Suicideboyy/DiscForge-CHD/blob/34a44a1/fontes/Processing/ConversionSession.Resume.cs.</a:t>
            </a:r>
          </a:p>
          <a:p xmlns:a="http://schemas.openxmlformats.org/drawingml/2006/main">
            <a:r>
              <a:t>Rótulos no slide distinguem implementação, inferência e proposta.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Referências no repositório: Proposta de acompanhamento. TESTES.txt explicita ausência de benchmark em jogos completos.</a:t>
            </a:r>
          </a:p>
          <a:p xmlns:a="http://schemas.openxmlformats.org/drawingml/2006/main">
            <a:r>
              <a:t>https://github.com/Suicideboyy/DiscForge-CHD/tree/34a44a1</a:t>
            </a:r>
          </a:p>
          <a:p xmlns:a="http://schemas.openxmlformats.org/drawingml/2006/main">
            <a:r>
              <a:t>Base: revisão 34a44a1, consultada em 21/09/2026.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Rótulos no slide distinguem implementação, inferência e proposta.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Referências no repositório: TESTES.txt; fontes/Application/Program.cs; fontes/Storage/FileSystemPaths.cs</a:t>
            </a:r>
          </a:p>
          <a:p xmlns:a="http://schemas.openxmlformats.org/drawingml/2006/main">
            <a:r>
              <a:t>https://github.com/Suicideboyy/DiscForge-CHD/tree/34a44a1</a:t>
            </a:r>
          </a:p>
          <a:p xmlns:a="http://schemas.openxmlformats.org/drawingml/2006/main">
            <a:r>
              <a:t>Base: revisão 34a44a1, consultada em 21/09/2026.</a:t>
            </a:r>
          </a:p>
          <a:p xmlns:a="http://schemas.openxmlformats.org/drawingml/2006/main">
            <a:r>
              <a:t>https://github.com/Suicideboyy/DiscForge-CHD/blob/34a44a1/TESTES.txt</a:t>
            </a:r>
          </a:p>
          <a:p xmlns:a="http://schemas.openxmlformats.org/drawingml/2006/main">
            <a:r>
              <a:t>https://github.com/Suicideboyy/DiscForge-CHD/blob/34a44a1/fontes/Application/Program.cs</a:t>
            </a:r>
          </a:p>
          <a:p xmlns:a="http://schemas.openxmlformats.org/drawingml/2006/main">
            <a:r>
              <a:t>https://github.com/Suicideboyy/DiscForge-CHD/blob/34a44a1/fontes/Storage/FileSystemPaths.cs</a:t>
            </a:r>
          </a:p>
          <a:p xmlns:a="http://schemas.openxmlformats.org/drawingml/2006/main">
            <a:r>
              <a:t>Rótulos no slide distinguem implementação, inferência e proposta.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Referências no repositório: Publicar.ps1; fontes/compilar.ps1; PUBLICACAO.md; árvore da revisão 34a44a1</a:t>
            </a:r>
          </a:p>
          <a:p xmlns:a="http://schemas.openxmlformats.org/drawingml/2006/main">
            <a:r>
              <a:t>https://github.com/Suicideboyy/DiscForge-CHD/tree/34a44a1</a:t>
            </a:r>
          </a:p>
          <a:p xmlns:a="http://schemas.openxmlformats.org/drawingml/2006/main">
            <a:r>
              <a:t>Base: revisão 34a44a1, consultada em 21/09/2026.</a:t>
            </a:r>
          </a:p>
          <a:p xmlns:a="http://schemas.openxmlformats.org/drawingml/2006/main">
            <a:r>
              <a:t>https://github.com/Suicideboyy/DiscForge-CHD/blob/34a44a1/Publicar.ps1</a:t>
            </a:r>
          </a:p>
          <a:p xmlns:a="http://schemas.openxmlformats.org/drawingml/2006/main">
            <a:r>
              <a:t>https://github.com/Suicideboyy/DiscForge-CHD/blob/34a44a1/fontes/compilar.ps1</a:t>
            </a:r>
          </a:p>
          <a:p xmlns:a="http://schemas.openxmlformats.org/drawingml/2006/main">
            <a:r>
              <a:t>https://github.com/Suicideboyy/DiscForge-CHD/blob/34a44a1/PUBLICACAO.md</a:t>
            </a:r>
          </a:p>
          <a:p xmlns:a="http://schemas.openxmlformats.org/drawingml/2006/main">
            <a:r>
              <a:t>Rótulos no slide distinguem implementação, inferência e proposta.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Referências no repositório: fontes/Processing; fontes/Services/GameDatabase.cs; LEIA-ME.txt; TESTES.txt</a:t>
            </a:r>
          </a:p>
          <a:p xmlns:a="http://schemas.openxmlformats.org/drawingml/2006/main">
            <a:r>
              <a:t>https://github.com/Suicideboyy/DiscForge-CHD/tree/34a44a1</a:t>
            </a:r>
          </a:p>
          <a:p xmlns:a="http://schemas.openxmlformats.org/drawingml/2006/main">
            <a:r>
              <a:t>Base: revisão 34a44a1, consultada em 21/09/2026.</a:t>
            </a:r>
          </a:p>
          <a:p xmlns:a="http://schemas.openxmlformats.org/drawingml/2006/main">
            <a:r>
              <a:t>https://github.com/Suicideboyy/DiscForge-CHD/blob/34a44a1/fontes/Processing</a:t>
            </a:r>
          </a:p>
          <a:p xmlns:a="http://schemas.openxmlformats.org/drawingml/2006/main">
            <a:r>
              <a:t>https://github.com/Suicideboyy/DiscForge-CHD/blob/34a44a1/fontes/Services/GameDatabase.cs</a:t>
            </a:r>
          </a:p>
          <a:p xmlns:a="http://schemas.openxmlformats.org/drawingml/2006/main">
            <a:r>
              <a:t>https://github.com/Suicideboyy/DiscForge-CHD/blob/34a44a1/LEIA-ME.txt</a:t>
            </a:r>
          </a:p>
          <a:p xmlns:a="http://schemas.openxmlformats.org/drawingml/2006/main">
            <a:r>
              <a:t>https://github.com/Suicideboyy/DiscForge-CHD/blob/34a44a1/TESTES.txt</a:t>
            </a:r>
          </a:p>
          <a:p xmlns:a="http://schemas.openxmlformats.org/drawingml/2006/main">
            <a:r>
              <a:t>Rótulos no slide distinguem implementação, inferência e proposta.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Referências no repositório: Proposta baseada nas limitações de TESTES.txt, LEIA-ME.txt e no fluxo de PUBLICACAO.md.</a:t>
            </a:r>
          </a:p>
          <a:p xmlns:a="http://schemas.openxmlformats.org/drawingml/2006/main">
            <a:r>
              <a:t>https://github.com/Suicideboyy/DiscForge-CHD/tree/34a44a1</a:t>
            </a:r>
          </a:p>
          <a:p xmlns:a="http://schemas.openxmlformats.org/drawingml/2006/main">
            <a:r>
              <a:t>Base: revisão 34a44a1, consultada em 21/09/2026.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Rótulos no slide distinguem implementação, inferência e proposta.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Referências no repositório: https://github.com/Suicideboyy/DiscForge-CHD/tree/34a44a1</a:t>
            </a:r>
          </a:p>
          <a:p xmlns:a="http://schemas.openxmlformats.org/drawingml/2006/main">
            <a:r>
              <a:t>https://github.com/Suicideboyy/DiscForge-CHD/tree/34a44a1</a:t>
            </a:r>
          </a:p>
          <a:p xmlns:a="http://schemas.openxmlformats.org/drawingml/2006/main">
            <a:r>
              <a:t>Base: revisão 34a44a1, consultada em 21/09/2026.</a:t>
            </a:r>
          </a:p>
          <a:p xmlns:a="http://schemas.openxmlformats.org/drawingml/2006/main">
            <a:r>
              <a:t>https://github.com/Suicideboyy/DiscForge-CHD/tree/34a44a1</a:t>
            </a:r>
          </a:p>
          <a:p xmlns:a="http://schemas.openxmlformats.org/drawingml/2006/main">
            <a:r>
              <a:t>Rótulos no slide distinguem implementação, inferência e proposta.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3b68d96d1149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3247bf693c47b1" /><Relationship Type="http://schemas.openxmlformats.org/officeDocument/2006/relationships/slideLayout" Target="/ppt/slideLayouts/slideLayout1.xml" Id="R0357a8f618ed47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57a8f618ed47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a27a8f3fa457c" /><Relationship Type="http://schemas.openxmlformats.org/officeDocument/2006/relationships/notesSlide" Target="/ppt/notesSlides/notesSlide1.xml" Id="R1af95d74f1194a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73c8db14f4a89" /><Relationship Type="http://schemas.openxmlformats.org/officeDocument/2006/relationships/notesSlide" Target="/ppt/notesSlides/notesSlide2.xml" Id="R508685afbcac4e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47d6795c34f0f" /><Relationship Type="http://schemas.openxmlformats.org/officeDocument/2006/relationships/notesSlide" Target="/ppt/notesSlides/notesSlide3.xml" Id="R7a7ae92e02c846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7f6839eb74115" /><Relationship Type="http://schemas.openxmlformats.org/officeDocument/2006/relationships/notesSlide" Target="/ppt/notesSlides/notesSlide4.xml" Id="Rfbf6be4ed0a24a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df1f3e4cb4737" /><Relationship Type="http://schemas.openxmlformats.org/officeDocument/2006/relationships/notesSlide" Target="/ppt/notesSlides/notesSlide5.xml" Id="Ra5cc573c06314c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8245ebce545f4" /><Relationship Type="http://schemas.openxmlformats.org/officeDocument/2006/relationships/notesSlide" Target="/ppt/notesSlides/notesSlide6.xml" Id="R2cf6e95a56b248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25e9dce524ae7" /><Relationship Type="http://schemas.openxmlformats.org/officeDocument/2006/relationships/notesSlide" Target="/ppt/notesSlides/notesSlide7.xml" Id="R066374824d5a48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da00ea70f4b42" /><Relationship Type="http://schemas.openxmlformats.org/officeDocument/2006/relationships/notesSlide" Target="/ppt/notesSlides/notesSlide8.xml" Id="R429e43b8c6c045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831b72944434c" /><Relationship Type="http://schemas.openxmlformats.org/officeDocument/2006/relationships/notesSlide" Target="/ppt/notesSlides/notesSlide9.xml" Id="R86c67703d4d848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af50a3e6949f5" /><Relationship Type="http://schemas.openxmlformats.org/officeDocument/2006/relationships/notesSlide" Target="/ppt/notesSlides/notesSlide10.xml" Id="R82369c61117748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b8836a450419a" /><Relationship Type="http://schemas.openxmlformats.org/officeDocument/2006/relationships/notesSlide" Target="/ppt/notesSlides/notesSlide11.xml" Id="R1438a953165b467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3de3011344742" /><Relationship Type="http://schemas.openxmlformats.org/officeDocument/2006/relationships/notesSlide" Target="/ppt/notesSlides/notesSlide12.xml" Id="R31bd8af58a0c417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455578b834aad" /><Relationship Type="http://schemas.openxmlformats.org/officeDocument/2006/relationships/notesSlide" Target="/ppt/notesSlides/notesSlide13.xml" Id="Ra82b3e28a09547a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0c407cf254221" /><Relationship Type="http://schemas.openxmlformats.org/officeDocument/2006/relationships/notesSlide" Target="/ppt/notesSlides/notesSlide14.xml" Id="Raf7f41c3fad34d1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830742452482a" /><Relationship Type="http://schemas.openxmlformats.org/officeDocument/2006/relationships/notesSlide" Target="/ppt/notesSlides/notesSlide15.xml" Id="R9fc5b8558c2e4b1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ee4f9696ec463f" /><Relationship Type="http://schemas.openxmlformats.org/officeDocument/2006/relationships/notesSlide" Target="/ppt/notesSlides/notesSlide16.xml" Id="Rd9721fc80bb8474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96314e47f457c" /><Relationship Type="http://schemas.openxmlformats.org/officeDocument/2006/relationships/notesSlide" Target="/ppt/notesSlides/notesSlide17.xml" Id="Reb2605f3d734407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266b849844ff9" /><Relationship Type="http://schemas.openxmlformats.org/officeDocument/2006/relationships/notesSlide" Target="/ppt/notesSlides/notesSlide18.xml" Id="R5692498020da438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b10def5bd64582" /><Relationship Type="http://schemas.openxmlformats.org/officeDocument/2006/relationships/notesSlide" Target="/ppt/notesSlides/notesSlide19.xml" Id="R16bc953a8abc4d6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37192a4e749b2" /><Relationship Type="http://schemas.openxmlformats.org/officeDocument/2006/relationships/notesSlide" Target="/ppt/notesSlides/notesSlide20.xml" Id="R279756f65f9c4ea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8fe3bc71e4a08" /><Relationship Type="http://schemas.openxmlformats.org/officeDocument/2006/relationships/notesSlide" Target="/ppt/notesSlides/notesSlide21.xml" Id="Rb98b50fb49f544e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bf45ab6444b66" /><Relationship Type="http://schemas.openxmlformats.org/officeDocument/2006/relationships/notesSlide" Target="/ppt/notesSlides/notesSlide22.xml" Id="R92efff8665934c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3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F0DD93-70C2-4DBE-B87F-F16E2340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DDAC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DAC3"/>
                </a:solidFill>
                <a:latin typeface="Arial"/>
                <a:ea typeface="Arial"/>
                <a:cs typeface="Arial"/>
              </a:rPr>
              <a:t>PROJETO • VERSÃO 1.2.1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95F36-2D23-452D-8E74-BB1C4FBC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DiscForge CHD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7EF69-8849-4E0D-8876-34C22DD2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Conversão e otimização de discos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69891-EEC7-4C1F-BA0A-A9C5A6BF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621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Aplicativo Windows x64 para imagens PS1/PS2 em CHD.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88DA8-559B-432A-A2F0-2DFA9F68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Base desta apresentação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B9D60-C16F-47EA-B343-ED321DC8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908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Código e documentação de main, revisão 34a44a1, consultados em 21/09/2026.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6E167-15D5-4A00-B3F5-4D33D88C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Leitura do 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C265C0-43DF-4DAF-B0A3-45A3F255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195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Recursos atuais, inferências de público e propostas de evolução aparecem identificados.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3E1AEE-6123-4011-9EC9-7B10E5C2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8BCB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BCBD"/>
                </a:solidFill>
                <a:latin typeface="Arial"/>
                <a:ea typeface="Arial"/>
                <a:cs typeface="Arial"/>
              </a:rPr>
              <a:t>DiscForge CHD    01 / 22</a:t>
            </a:r>
          </a:p>
        </p:txBody>
      </p:sp>
    </p:spTree>
    <p:extLst>
      <p:ext uri="{BB962C8B-B14F-4D97-AF65-F5344CB8AC3E}">
        <p14:creationId xmlns:p14="http://schemas.microsoft.com/office/powerpoint/2010/main" val="5386806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28770D-BE2B-4E15-9B04-BCC4AAEB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75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7564"/>
                </a:solidFill>
                <a:latin typeface="Arial"/>
                <a:ea typeface="Arial"/>
                <a:cs typeface="Arial"/>
              </a:rPr>
              <a:t>ANÁLISE DO PRODUTO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C0AE7-F79C-459C-A057-F02B8CD5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Problema e oportunidade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F2F8D-B4F3-419E-AB22-FDC302F2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Problema inferido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84668-AE61-4A77-8C8D-DB7AEE5D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621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Converter coleções exige lidar com formatos, faixas de áudio, parâmetros e saídas incompletas.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1DD8A-1247-4172-9037-150B2AB3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Oportunidade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9FABB-FDE9-452D-9086-CDD83B4D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908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Reunir extração, identificação, conversão e verificação em uma interface desktop.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FEEFA8-75A9-41AF-BAC3-43FC546F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Valor esperado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57EAE-3312-4CF9-B694-D3620038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195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Reduzir trabalho manual e proteger as entradas. Economia de espaço e tempo depende da mídia e dos codecs.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EAA3BC-92AD-44D8-946C-B6BE26F9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Limite da evidência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72B913-6595-44AA-BE25-8D83F23D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482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O repositório não apresenta pesquisa com usuários nem benchmark de jogos completos.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D6EBB-BCB2-4A7C-95A5-768AAC2C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4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76"/>
                </a:solidFill>
                <a:latin typeface="Arial"/>
                <a:ea typeface="Arial"/>
                <a:cs typeface="Arial"/>
              </a:rPr>
              <a:t>DiscForge CHD    02 / 22</a:t>
            </a:r>
          </a:p>
        </p:txBody>
      </p:sp>
    </p:spTree>
    <p:extLst>
      <p:ext uri="{BB962C8B-B14F-4D97-AF65-F5344CB8AC3E}">
        <p14:creationId xmlns:p14="http://schemas.microsoft.com/office/powerpoint/2010/main" val="15483622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F69178-0C38-4740-B061-5D7315A0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75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7564"/>
                </a:solidFill>
                <a:latin typeface="Arial"/>
                <a:ea typeface="Arial"/>
                <a:cs typeface="Arial"/>
              </a:rPr>
              <a:t>SÍNTESE E PROPOSTA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FDB75-9178-4CAD-AB6E-FEE10ABE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Visão e objetivos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E9D430-758D-4AAB-B6BB-8450DFC9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Visão inferida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0A92D-9558-4476-9B8B-E81E943D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621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Facilitar o preparo e a organização de imagens de discos em CHD no Windows.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F330D-926C-486F-82DB-4D0CDC4B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Objetivo atual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52233-5107-4622-9F1C-6EB55CB7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908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Processar lotes PS2 e otimizar CHDs de CD para PS1 com verificação antes da saída definitiva.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BCB53-5F3F-4B54-8BBC-12F1EEB9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Objetivos sugeridos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223C68-E19A-4117-8A97-14F0C58E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195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Tornar regressões reproduzíveis e ampliar a confiança na retomada e na distribuição.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1D1A6-7636-4662-8FAB-BD469BDA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Como medir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9C912E-0496-4071-A9AF-026BAFA8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482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Taxa de sucesso, falhas por tipo de mídia, tempo por GiB e relação entre tamanho final e inicial. Sem metas numéricas validadas.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215B2A-1649-4879-8E4F-3C95B82A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4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76"/>
                </a:solidFill>
                <a:latin typeface="Arial"/>
                <a:ea typeface="Arial"/>
                <a:cs typeface="Arial"/>
              </a:rPr>
              <a:t>DiscForge CHD    03 / 22</a:t>
            </a:r>
          </a:p>
        </p:txBody>
      </p:sp>
    </p:spTree>
    <p:extLst>
      <p:ext uri="{BB962C8B-B14F-4D97-AF65-F5344CB8AC3E}">
        <p14:creationId xmlns:p14="http://schemas.microsoft.com/office/powerpoint/2010/main" val="9083997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7BCC31-3512-463B-8E6C-87ADE3F4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75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7564"/>
                </a:solidFill>
                <a:latin typeface="Arial"/>
                <a:ea typeface="Arial"/>
                <a:cs typeface="Arial"/>
              </a:rPr>
              <a:t>HIPÓTESES A VALIDAR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5A7C9A-9174-4C04-9839-982B6543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Público e personas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9687F-088A-4ACB-97B4-E1065CD3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Pessoa que organiza imagens PS2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0221F-2C21-47A0-8319-1B0CB61D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621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Precisa processar arquivos avulsos e compactados, reconhecer jogos e acompanhar o lote.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7D025-2342-422D-8648-F5BF5132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Pessoa que mantém CHDs PS1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769D9-CBB5-4E30-87A1-4F0F209D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908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Quer testar nova compressão e conservar o original quando ele for menor e elegível.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2B340E-15F0-4B45-91FB-4AE2D4DB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Mantenedor do aplicativo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64A0D-9CCC-47DF-BC58-323630CD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195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Precisa reproduzir defeitos, compilar e publicar versões consistentes.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8DF85-2678-414D-87B3-1AE670A5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Validação sugerida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344FA-B862-4619-8330-0AC174E3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482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Entrevistar usuários sobre formatos, tamanho das coleções e falhas frequentes. Não há personas pesquisadas no repositório.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3E34C9-8AF0-4A5F-83F3-71D833EC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4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76"/>
                </a:solidFill>
                <a:latin typeface="Arial"/>
                <a:ea typeface="Arial"/>
                <a:cs typeface="Arial"/>
              </a:rPr>
              <a:t>DiscForge CHD    04 / 22</a:t>
            </a:r>
          </a:p>
        </p:txBody>
      </p:sp>
    </p:spTree>
    <p:extLst>
      <p:ext uri="{BB962C8B-B14F-4D97-AF65-F5344CB8AC3E}">
        <p14:creationId xmlns:p14="http://schemas.microsoft.com/office/powerpoint/2010/main" val="7511998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C96FE-E5AA-429C-A72C-27C3B6F8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75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7564"/>
                </a:solidFill>
                <a:latin typeface="Arial"/>
                <a:ea typeface="Arial"/>
                <a:cs typeface="Arial"/>
              </a:rPr>
              <a:t>IMPLEMENTADO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B2B77-A8B2-46D5-AF21-B6F8040B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Funcionalidades disponíveis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7F9E14-2822-4198-AA8C-1EA34109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Conversão PS2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6ECB4C-F02D-40B9-9379-7B16B20D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621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CD/DVD, imagens avulsas, compactados suportados e CUE multifaixa. Escolha de codecs, hunk e threads.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E0E20-F3D0-4FAD-899D-6A995EBE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Otimização PS1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15C58-5AC8-4DBF-B404-4B98EF8E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908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CHDs de CD na pasta escolhida. Pode conservar o CHD original quando menor ou igual ao candidato.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38F5ED-70AC-402F-824B-EA1F0530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Informações do jogo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77364F-9462-4001-B4C0-1DC85B41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195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Consulta PS2 por serial em Redump e PSX Data Center. Capas PS2 com cache local.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ED95DC-EDF3-4C94-BB0B-FA4BE401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Controle do lote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EFFF75-69E2-4CEE-93C6-F83905C8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482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Progresso, logs, retomada, parada após a entrada atual e exclusão opcional de compactados após sucesso integral.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59D4EB-DC58-461A-B39D-B9F341AC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4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76"/>
                </a:solidFill>
                <a:latin typeface="Arial"/>
                <a:ea typeface="Arial"/>
                <a:cs typeface="Arial"/>
              </a:rPr>
              <a:t>DiscForge CHD    05 / 22</a:t>
            </a:r>
          </a:p>
        </p:txBody>
      </p:sp>
    </p:spTree>
    <p:extLst>
      <p:ext uri="{BB962C8B-B14F-4D97-AF65-F5344CB8AC3E}">
        <p14:creationId xmlns:p14="http://schemas.microsoft.com/office/powerpoint/2010/main" val="20028774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D24027-4089-4431-AAFA-738EE683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75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7564"/>
                </a:solidFill>
                <a:latin typeface="Arial"/>
                <a:ea typeface="Arial"/>
                <a:cs typeface="Arial"/>
              </a:rPr>
              <a:t>COMPORTAMENTO ATUAL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CC847-8F93-4F6B-9F58-E7CE3736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Escopo e limites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38E04F-6F4F-4A4C-88CE-461D9ED6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PS1 e PS2 têm escopos distintos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EE823-19F2-4E2E-AAF5-57CC0305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621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PS1 seleciona apenas CHDs na pasta inicial. PS2 percorre subpastas e inclui compactados.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DAE49-2939-42FB-9CA4-78BCCE0B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CUE é obrigatório para faixas agrupadas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95EC3-F2D5-4437-AE04-84C30A58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908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BINs numerados sem o CUE original geram erro. O programa evita tratar faixas como discos independentes.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B5325-C63C-42F5-8D8E-F8B3C519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Detecção tem fallback heurístico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0DB89-515E-4941-9E23-8E155632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195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ISO sem identificação usa o limite de 400 MiB para CD/DVD. Isso não comprova a mídia real.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F457A-CBBB-4F5F-8F18-709672A9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Retomada não equivale a verify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F6E9E-3DA2-4D23-8EE5-384284C7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482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Saídas existentes passam por chdman info. CHDs novos passam por chdman verify antes da publicação.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55CC26-86E2-40BB-8408-EC7A86B9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4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76"/>
                </a:solidFill>
                <a:latin typeface="Arial"/>
                <a:ea typeface="Arial"/>
                <a:cs typeface="Arial"/>
              </a:rPr>
              <a:t>DiscForge CHD    06 / 22</a:t>
            </a:r>
          </a:p>
        </p:txBody>
      </p:sp>
    </p:spTree>
    <p:extLst>
      <p:ext uri="{BB962C8B-B14F-4D97-AF65-F5344CB8AC3E}">
        <p14:creationId xmlns:p14="http://schemas.microsoft.com/office/powerpoint/2010/main" val="4657713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31C88F-2DED-43E3-84F2-E25CC4A1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75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7564"/>
                </a:solidFill>
                <a:latin typeface="Arial"/>
                <a:ea typeface="Arial"/>
                <a:cs typeface="Arial"/>
              </a:rPr>
              <a:t>IMPLEMENTADO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0B728-2F2E-4050-90C8-318DF036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Arquitetura e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AD4C5-78BE-489D-8DBC-C96FE462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Interface e aplicação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BA96D7-5FD0-4DCF-8A80-AB461B79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621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C# com Windows Forms e .NET Framework, recomendado 4.8. Executável Windows x64 com instância única.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EB589-46E6-4B3D-A0E0-278B1BA1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Motor de processamento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2B6DC2-BB37-4DEE-A8F1-83057102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908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Engine cria ConversionSession. A sessão coordena arquivos, compactados, identificação, conversão e relatórios.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0ED17-42FC-43AC-9D52-37E2672F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Adaptadores e serviços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B3020-817A-4012-8320-2A0769C1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195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ToolRunner executa chdman/7-Zip. Media, Archives e Storage tratam entradas. Services consulta dados e capas.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F3D427-9451-4280-B0CA-A56C0250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Persistência e build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896141-C9DE-46D9-820B-60188EB8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482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Arquivos locais, cache JSON e logs. compilar.ps1 usa csc.exe e incorpora chdman.exe, 7z.exe e 7z.dll.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0509B7-78C4-4351-B5B1-658B0AEA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4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76"/>
                </a:solidFill>
                <a:latin typeface="Arial"/>
                <a:ea typeface="Arial"/>
                <a:cs typeface="Arial"/>
              </a:rPr>
              <a:t>DiscForge CHD    07 / 22</a:t>
            </a:r>
          </a:p>
        </p:txBody>
      </p:sp>
    </p:spTree>
    <p:extLst>
      <p:ext uri="{BB962C8B-B14F-4D97-AF65-F5344CB8AC3E}">
        <p14:creationId xmlns:p14="http://schemas.microsoft.com/office/powerpoint/2010/main" val="21856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D5A97-7F73-4D15-A02D-E5D296AC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75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7564"/>
                </a:solidFill>
                <a:latin typeface="Arial"/>
                <a:ea typeface="Arial"/>
                <a:cs typeface="Arial"/>
              </a:rPr>
              <a:t>IMPLEMENTADO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5C79A-C3E7-43BE-B7AB-B127B890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Fluxo principal de conversão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17F6FE-DD93-40C5-A40B-2BAC32A2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01  Configuração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747CC-FFCD-43DC-B383-D83A9909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621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Selecionar pastas, plataforma, codecs, hunk e threads. Validar caminhos e parâmetros.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7EFD9-CC6F-4D08-B4D1-B14ED159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02  Preparação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6CA02-4285-48BE-8CD0-AA005C56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908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Enumerar entradas, examinar compactados e CUE, checar saídas existentes e extrair quando necessário.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7AAFA-6F9D-4AAE-A86F-511C0C37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03  Conversão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CBEA1-1AAD-4BD2-BB37-2DB196C4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195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Identificar CD/DVD, extrair CHD quando aplicável e executar createcd ou createdvd.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BC2C1-7FD6-4984-845A-AEB9D276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04  Conclusão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45EE97-3F02-4FE0-B3DD-94FD57F9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482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Copiar para temporário no destino, executar verify e mover sem sobrescrever. Registrar resultado e limpar temporários.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834394-EAE8-40B0-9D7C-7A0277AA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4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76"/>
                </a:solidFill>
                <a:latin typeface="Arial"/>
                <a:ea typeface="Arial"/>
                <a:cs typeface="Arial"/>
              </a:rPr>
              <a:t>DiscForge CHD    08 / 22</a:t>
            </a:r>
          </a:p>
        </p:txBody>
      </p:sp>
    </p:spTree>
    <p:extLst>
      <p:ext uri="{BB962C8B-B14F-4D97-AF65-F5344CB8AC3E}">
        <p14:creationId xmlns:p14="http://schemas.microsoft.com/office/powerpoint/2010/main" val="6855174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80EA19-AEFC-41A7-A7B2-96A0595E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75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7564"/>
                </a:solidFill>
                <a:latin typeface="Arial"/>
                <a:ea typeface="Arial"/>
                <a:cs typeface="Arial"/>
              </a:rPr>
              <a:t>IMPLEMENTADO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3C8E9-FD70-4FF0-855B-B0B59165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Casos de uso e exceções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20124-86A2-4374-9D67-11E01CE1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UC01  Converter lote PS2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1997A-2AFA-4A22-B49D-2DC5F437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621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Ator seleciona imagens/compactados. Resultado: CHDs verificados. Falha de uma entrada gera log e o lote continua.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21C26-4758-4C44-A84B-CF128A95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UC02  Otimizar CHD PS1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07599-02F9-449F-B929-2B6AC933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908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Ator fornece CHD de CD. O motor compara os tamanhos e verifica o candidato escolhido. CHD de DVD gera erro.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89DDD-7501-4DD3-ABAE-CDCE6AC6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UC03  Retomar processamento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0F62B-4BCB-4FFF-BDC5-9E7C6EE3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195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Saídas esperadas e legíveis permitem ignorar a entrada. CHD existente inválido fica preservado para revisão.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CC2DED-A6EA-46A1-B061-10F23D3D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UC04  Interromper ou limpar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2CC97-035B-4008-89BE-CA25977F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482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Parada respeita a entrada atual. Exclusão habilitada só remove o compactado após todos os discos novos passarem pelas verificações.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B001BC-6A48-44D6-86AB-10D43C41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4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76"/>
                </a:solidFill>
                <a:latin typeface="Arial"/>
                <a:ea typeface="Arial"/>
                <a:cs typeface="Arial"/>
              </a:rPr>
              <a:t>DiscForge CHD    09 / 22</a:t>
            </a:r>
          </a:p>
        </p:txBody>
      </p:sp>
    </p:spTree>
    <p:extLst>
      <p:ext uri="{BB962C8B-B14F-4D97-AF65-F5344CB8AC3E}">
        <p14:creationId xmlns:p14="http://schemas.microsoft.com/office/powerpoint/2010/main" val="4260235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AC060-CDD4-4E49-831E-F02EA6D2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75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7564"/>
                </a:solidFill>
                <a:latin typeface="Arial"/>
                <a:ea typeface="Arial"/>
                <a:cs typeface="Arial"/>
              </a:rPr>
              <a:t>FORMALIZAÇÃO DO COMPORTAMENTO ATUAL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82494-23B2-426A-B74B-308412A3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User stories de conversão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19D8F-C2E2-4354-97E1-1D5E642E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US01  Conversão PS2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71950-5D8F-4B5A-A174-ED807030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621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Como usuário PS2, quero converter um CUE com suas faixas, para manter o disco completo em um CHD.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FF2F1-0CF3-498A-86DD-33200FBE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Aceitação US01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71645-BACD-427F-9A6F-39DE8CEA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908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Dado CUE válido com dados e áudio, quando converter, então gerar um CHD com as faixas e verify aprovado. Sem CUE, rejeitar BINs agrupados.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3CCC18-938E-4C40-8C09-5C918B91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US02  Otimização PS1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A8084-2B89-456E-9859-F03EA20D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195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Como usuário PS1, quero comparar a nova compressão com meu CHD, para evitar uma saída maior.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E9A6F-76A4-44D8-8854-73A23A3F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Aceitação US02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92FF28-5BA7-4FD9-B11B-766E7E77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482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Dado CHD de CD, se o original for menor ou igual ao candidato, então usá-lo e verificá-lo antes da saída final. Rejeitar CHD de DVD.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DFC28F-8BED-4163-99C6-F4B49BCF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4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76"/>
                </a:solidFill>
                <a:latin typeface="Arial"/>
                <a:ea typeface="Arial"/>
                <a:cs typeface="Arial"/>
              </a:rPr>
              <a:t>DiscForge CHD    10 / 22</a:t>
            </a:r>
          </a:p>
        </p:txBody>
      </p:sp>
    </p:spTree>
    <p:extLst>
      <p:ext uri="{BB962C8B-B14F-4D97-AF65-F5344CB8AC3E}">
        <p14:creationId xmlns:p14="http://schemas.microsoft.com/office/powerpoint/2010/main" val="5923113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2E56F7-C05C-482D-A206-DA3AA211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75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7564"/>
                </a:solidFill>
                <a:latin typeface="Arial"/>
                <a:ea typeface="Arial"/>
                <a:cs typeface="Arial"/>
              </a:rPr>
              <a:t>FORMALIZAÇÃO DO COMPORTAMENTO ATUAL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365183-C8F6-4332-9E10-B1C66737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User stories de segurança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E3A64-36FD-4AF6-BF7B-77011687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US03  Retomada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22536-8C5F-46EC-AC42-E049C1D4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621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Como usuário, quero ignorar saídas já reconhecidas, para evitar extração e conversão repetidas.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848C8F-8BB9-4667-849D-0BF00ED6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Aceitação US03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F41181-898E-405D-874A-0633AE56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908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Com todas as saídas esperadas aprovadas por info, não extrair novamente. Preservar compactado ignorado e saída inválida.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78B0F6-0277-4D4C-B15B-CC57C4E7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US04  Exclusão opcional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D54D66-B042-4221-9D95-2F060ED4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195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Como usuário, quero apagar compactados após sucesso integral, para liberar espaço com controle.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807571-1098-4CB3-9572-C4F3776F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Aceitação US04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50186-B9EA-4DC1-986E-3B38C83A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482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Excluir somente com opção ativa, todos os discos novos verificados e snapshots inalterados. Em falha, preservar a entrada. Não excluir imagens avulsas.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1DD1C0-C401-4C82-BDE6-AE5BA091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4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76"/>
                </a:solidFill>
                <a:latin typeface="Arial"/>
                <a:ea typeface="Arial"/>
                <a:cs typeface="Arial"/>
              </a:rPr>
              <a:t>DiscForge CHD    11 / 22</a:t>
            </a:r>
          </a:p>
        </p:txBody>
      </p:sp>
    </p:spTree>
    <p:extLst>
      <p:ext uri="{BB962C8B-B14F-4D97-AF65-F5344CB8AC3E}">
        <p14:creationId xmlns:p14="http://schemas.microsoft.com/office/powerpoint/2010/main" val="7119078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A5D239-710B-45B0-805F-6EA6CA8E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75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7564"/>
                </a:solidFill>
                <a:latin typeface="Arial"/>
                <a:ea typeface="Arial"/>
                <a:cs typeface="Arial"/>
              </a:rPr>
              <a:t>BASELINE DERIVADA DO CÓDIGO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8D551-56B4-4212-A7B7-6FE62FA3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Requisitos funcionais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AC7721-0D7C-419D-8544-62AD8218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RF01–RF02  Configurar e selecionar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044C0-62D6-4E8B-9463-5A53D769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621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Validar pastas, plataforma, codecs, hunks e threads. Selecionar entradas conforme PS1/PS2.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F2C1D-79EB-451F-BFAA-430BE8CF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RF03–RF04  Preparar e converter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15805-78D6-453E-A724-5C94297E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908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Ler compactados e referências CUE. Converter CD/DVD com chdman e tratar erros por entrada.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6A4805-DD88-4690-842F-748259F4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RF05–RF06  Validar e retomar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B51E67-767A-4669-9E6C-29FCED83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195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Verificar novas saídas antes do nome definitivo. Detectar saídas existentes sem sobrescrevê-las.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A22414-AA71-4F6C-99C4-53B47471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RF07–RF09  Informar e controlar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2A8FE-8B58-4879-B8AB-12E2BE47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482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Consultar serial/capas, exibir progresso e log, parar entre entradas e condicionar a exclusão ao sucesso integral.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2177ED-057C-4320-B4A9-A5FA0F82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4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76"/>
                </a:solidFill>
                <a:latin typeface="Arial"/>
                <a:ea typeface="Arial"/>
                <a:cs typeface="Arial"/>
              </a:rPr>
              <a:t>DiscForge CHD    12 / 22</a:t>
            </a:r>
          </a:p>
        </p:txBody>
      </p:sp>
    </p:spTree>
    <p:extLst>
      <p:ext uri="{BB962C8B-B14F-4D97-AF65-F5344CB8AC3E}">
        <p14:creationId xmlns:p14="http://schemas.microsoft.com/office/powerpoint/2010/main" val="17651475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8DBD7B-0D11-4E60-BE1D-3F90AC43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75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7564"/>
                </a:solidFill>
                <a:latin typeface="Arial"/>
                <a:ea typeface="Arial"/>
                <a:cs typeface="Arial"/>
              </a:rPr>
              <a:t>BASELINE E METAS SUGERIDAS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CBB0E-C850-48AB-9249-5C53B5AC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Requisitos não funcionais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70BED-1D82-433F-8297-75A1F72F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Integridade e segurança atuais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8D0ED-9FC5-4D7B-B231-41E48B42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621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Saída temporária no destino, verify e movimentação sem sobrescrita. Validação de caminhos e bloqueio de links/junctions.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6BAF6-BF86-429C-93D9-6F941CEE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Resiliência atual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42576-AB6E-4BA7-8BEA-13CC967D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908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Falhas online não impedem conversão. Cache e limites de rede reduzem dependência dos provedores.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BCAD77-BF1F-44A0-B6C9-01C79D0C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Compatibilidade atual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4AED67-EE53-4F28-B40D-0F181087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195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Windows x64 e .NET Framework. O chdman incluído é descrito como compilado para Zen 3/x64. Ampliar testes de CPUs.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44C75-7935-4BDD-A130-7E0A60D1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Metas propostas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BA17E-0B04-4AE0-8F8A-B38DEDC4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482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Medir desempenho por mídia, testar DPI/teclado e definir orçamento de disco temporário. Ainda não há SLA ou benchmark abrangente.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9E1229-B3B6-42FE-836C-A9FFAA95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4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76"/>
                </a:solidFill>
                <a:latin typeface="Arial"/>
                <a:ea typeface="Arial"/>
                <a:cs typeface="Arial"/>
              </a:rPr>
              <a:t>DiscForge CHD    13 / 22</a:t>
            </a:r>
          </a:p>
        </p:txBody>
      </p:sp>
    </p:spTree>
    <p:extLst>
      <p:ext uri="{BB962C8B-B14F-4D97-AF65-F5344CB8AC3E}">
        <p14:creationId xmlns:p14="http://schemas.microsoft.com/office/powerpoint/2010/main" val="3478440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72ED2A-EC72-45FD-BB77-7FEBF6C9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75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7564"/>
                </a:solidFill>
                <a:latin typeface="Arial"/>
                <a:ea typeface="Arial"/>
                <a:cs typeface="Arial"/>
              </a:rPr>
              <a:t>PROPOSTA, NÃO PROCESSO COMPROVADO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FA81F1-49C4-4174-AA32-6CD4C921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Forma de trabalho ágil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E4237-2A42-4A38-B38B-7B801619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Kanban como ponto de partida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BFC372-0D45-4365-B4AD-38AD41F5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621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Backlog, Pronto, Em andamento, Revisão/QA e Concluído. Limitar trabalho em andamento a um item por responsável.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99392-300A-42F6-9872-1691DA50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Priorização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D41CF-95BB-4AC2-8D16-164F47BC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908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Primeiro integridade e regressões, depois compatibilidade e conveniência. Ordenar por impacto, risco e esforço.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7844B-013F-4B13-92C8-5366DA17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Cadência sugerida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E17663-BFA7-4FA3-8E35-FD1AC3D2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195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Triagem semanal, revisão de entregas quinzenal e retrospectiva mensal. Registrar impedimentos quando surgirem.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39D49-F53E-44A1-91DA-CAC43F83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Scrum como alternativa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C055F-7C15-463C-A228-11AA88AB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482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Se houver equipe estável, adotar sprints de duas semanas com objetivo, planejamento, revisão e retrospectiva. Papéis ainda precisam de definição.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0B51CC-7A80-4993-ADDA-0D4B3F8B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4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76"/>
                </a:solidFill>
                <a:latin typeface="Arial"/>
                <a:ea typeface="Arial"/>
                <a:cs typeface="Arial"/>
              </a:rPr>
              <a:t>DiscForge CHD    14 / 22</a:t>
            </a:r>
          </a:p>
        </p:txBody>
      </p:sp>
    </p:spTree>
    <p:extLst>
      <p:ext uri="{BB962C8B-B14F-4D97-AF65-F5344CB8AC3E}">
        <p14:creationId xmlns:p14="http://schemas.microsoft.com/office/powerpoint/2010/main" val="5991267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A427D5-B324-47A1-A5E0-032E1099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75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7564"/>
                </a:solidFill>
                <a:latin typeface="Arial"/>
                <a:ea typeface="Arial"/>
                <a:cs typeface="Arial"/>
              </a:rPr>
              <a:t>PROPOSTA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456E4-2352-4950-9BE9-CD8EC034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Definition of Ready e Done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1C71C-447B-4D88-B8CC-BF979AC4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Ready  •  necessidade clara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3D835-BC23-405A-AA4B-762DAEEE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621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Story com ator, valor e critérios testáveis. Identificar módulo afetado e comportamento atual.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9A364-699D-4D2D-A6AA-86F4A5C6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Ready  •  execução viável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55D3E5-FEDD-4866-93FD-4E6E0D06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908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Fixture permitida disponível, dependências mapeadas, risco de arquivos avaliado e item pequeno o suficiente.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9E0CC-D1FA-4B32-A732-0A9556AB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Done  •  qualidade demonstrada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6FC84-1767-43A3-A7CC-96CF5713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195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Build aprovado, critérios atendidos, regressões relevantes executadas e evidências registradas. Revisar preservação de entradas.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C00BB-F114-479A-9EC0-EDBDBCDD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Done  •  entrega sustentável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D73C29-EDC8-4F59-B311-F248CD09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482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Documentação atualizada. Para release do app: versões sincronizadas, changelog, hash e tag. Documentação isolada segue commit próprio.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D36DA4-C7E9-4F67-BE7D-563421E8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4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76"/>
                </a:solidFill>
                <a:latin typeface="Arial"/>
                <a:ea typeface="Arial"/>
                <a:cs typeface="Arial"/>
              </a:rPr>
              <a:t>DiscForge CHD    15 / 22</a:t>
            </a:r>
          </a:p>
        </p:txBody>
      </p:sp>
    </p:spTree>
    <p:extLst>
      <p:ext uri="{BB962C8B-B14F-4D97-AF65-F5344CB8AC3E}">
        <p14:creationId xmlns:p14="http://schemas.microsoft.com/office/powerpoint/2010/main" val="6927181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C08EDC-D811-4F03-BC39-FE601777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75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7564"/>
                </a:solidFill>
                <a:latin typeface="Arial"/>
                <a:ea typeface="Arial"/>
                <a:cs typeface="Arial"/>
              </a:rPr>
              <a:t>PROPOSTA DE EVOLUÇÃO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4ED79-97FD-4B9A-B2E7-EEB67B61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Backlog priorizado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CC7B8-29E5-420D-8075-C26CD3A9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P0  Regressão reproduzível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2256C-777C-4D99-B5C0-EB9374F7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621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Versionar geradores de fixtures sintéticas e runner. Aceite: reproduzir os cenários de TESTES.txt sem coleção pessoal.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9298E-3DE9-46D5-A0DD-4318F8AE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P0  Integridade na retomada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9D90C-30CF-473C-A66B-41CE00B2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908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Avaliar verify opcional para saídas existentes. Aceite: corrupção de dados detectada em fixture e origem preservada.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376B8-C5C9-4145-A969-04FF32BE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P1  Compatibilidade e identificação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406EB-56E4-46AB-BB57-81B2E60C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195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Testar CPUs e permitir revisão explícita da mídia heurística. Aceite: matriz documentada e casos ambíguos cobertos.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B85C2F-376F-4932-B996-EDA22EF7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P1/P2  Distribuição e experiência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C3762D-8668-4349-A68A-4B50F02A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482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P1: pipeline de build/QA e revisão de licenças. P2: benchmark e acessibilidade. Refinar esforço antes de comprometer prazos.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3B18E-C9AA-431A-AF50-2D662D9D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4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76"/>
                </a:solidFill>
                <a:latin typeface="Arial"/>
                <a:ea typeface="Arial"/>
                <a:cs typeface="Arial"/>
              </a:rPr>
              <a:t>DiscForge CHD    16 / 22</a:t>
            </a:r>
          </a:p>
        </p:txBody>
      </p:sp>
    </p:spTree>
    <p:extLst>
      <p:ext uri="{BB962C8B-B14F-4D97-AF65-F5344CB8AC3E}">
        <p14:creationId xmlns:p14="http://schemas.microsoft.com/office/powerpoint/2010/main" val="211249568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07CA7D-665E-490C-8349-066A309A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75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7564"/>
                </a:solidFill>
                <a:latin typeface="Arial"/>
                <a:ea typeface="Arial"/>
                <a:cs typeface="Arial"/>
              </a:rPr>
              <a:t>PROPOSTA, SEM BASELINE NUMÉRICA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A7321-73F9-43D9-A683-F982E454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Métricas de acompanhamento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51F23-A76A-49F2-8DDE-124B77DF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Fluxo de entrega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70EA6A-CE39-4E23-9683-E6ABC4C6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621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Lead time, cycle time, throughput e idade dos itens bloqueados. Usar dados do quadro, sem comparar produtividade individual.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1ACFE-832D-456F-A1A9-37B1CFA8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Qualidade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EC28C-DFF1-4BA8-AF13-DE796766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908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Regressões por release, taxa de testes aprovados e falhas por mídia. Separar defeitos do app de entradas inválidas.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BAA92-8E80-4AFA-BB29-C37C7572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Eficiência do produto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B2D50-6E77-4326-B02F-EB18E22F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195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Tempo por GiB, tamanho CHD/entrada e pico de espaço temporário em fixtures comparáveis. Registrar CPU e codecs.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69AB9-FE49-4803-8ADF-0900AFF3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Decisão de produto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6BDCFC-2FD8-4CAE-83F1-76DF0241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482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Estabelecer baseline antes das metas. Rever tendências a cada entrega e priorizar o maior risco observado.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715414-36A7-4242-AD64-A46C1826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4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76"/>
                </a:solidFill>
                <a:latin typeface="Arial"/>
                <a:ea typeface="Arial"/>
                <a:cs typeface="Arial"/>
              </a:rPr>
              <a:t>DiscForge CHD    17 / 22</a:t>
            </a:r>
          </a:p>
        </p:txBody>
      </p:sp>
    </p:spTree>
    <p:extLst>
      <p:ext uri="{BB962C8B-B14F-4D97-AF65-F5344CB8AC3E}">
        <p14:creationId xmlns:p14="http://schemas.microsoft.com/office/powerpoint/2010/main" val="162342137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60A9B5-3494-4884-AF19-0807D596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75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7564"/>
                </a:solidFill>
                <a:latin typeface="Arial"/>
                <a:ea typeface="Arial"/>
                <a:cs typeface="Arial"/>
              </a:rPr>
              <a:t>EVIDÊNCIA EXISTENTE E PROPOSTA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4A9073-0028-456A-9A5F-BC1DE5E4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Estratégia de testes e QA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76D51-98E2-485D-81F6-B7924458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Registro existente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D0B50B-3325-4B15-A569-C577DE0D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621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TESTES.txt relata PS1/PS2, ZIP/7z, CUE multifaixa, retomada, parada e exclusão. Relata cinco CHDs iguais à versão anterior por SHA-256.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E66C7-925B-4176-AF59-73D6DBDB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Limites do registro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B515B-1A51-4885-991D-18CE58E9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908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São resultados documentados, não reexecutados nesta análise. Não há suíte/fixtures versionadas nem cobertura de todos os formatos ou nova consulta online.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C3AE91-110E-410E-A884-7B3EB4D5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Automação proposta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86B82A-63B5-4904-9D75-30F4D36C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195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Testes de caminhos, serial, CUE e parâmetros. Integração com chdman/7-Zip usando fixtures sintéticas e round-trip com hash.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51EA9-E4FB-4920-AF8A-42E42D47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QA manual proposto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1C673F-B251-4A84-BF60-1D3BC9D0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482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Rede indisponível, pouco espaço, colisões, falha de ferramenta, cache corrompido, DPI e navegação por teclado. Gate: nenhuma regressão de integridade.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0AFFDC-B8DC-4D4C-8A5D-41C57F90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4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76"/>
                </a:solidFill>
                <a:latin typeface="Arial"/>
                <a:ea typeface="Arial"/>
                <a:cs typeface="Arial"/>
              </a:rPr>
              <a:t>DiscForge CHD    18 / 22</a:t>
            </a:r>
          </a:p>
        </p:txBody>
      </p:sp>
    </p:spTree>
    <p:extLst>
      <p:ext uri="{BB962C8B-B14F-4D97-AF65-F5344CB8AC3E}">
        <p14:creationId xmlns:p14="http://schemas.microsoft.com/office/powerpoint/2010/main" val="124761079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166D17-CB1E-49D3-AAE8-C7AB21E2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75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7564"/>
                </a:solidFill>
                <a:latin typeface="Arial"/>
                <a:ea typeface="Arial"/>
                <a:cs typeface="Arial"/>
              </a:rPr>
              <a:t>ATUAL E SUGERIDO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01647-9011-486F-B274-766FF557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Build, publicação e CI/CD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1DE44-82DB-4C94-9606-473EAA48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Atual  •  build local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06366-B012-4602-9800-67C0D15A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621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compilar.ps1 compila os fontes com csc.exe, inclui ferramentas e gera o executável.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30096-69D4-4503-91C2-8C7B930D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Atual  •  publicação local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6F2AE-5CEA-45EC-8975-C0B3A83C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908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Publicar.ps1 compila, calcula SHA-256, cria commit/tag e faz push atômico. Não há .github/workflows na revisão analisada.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3BB8B5-24FB-4F59-BCD9-0ADD4348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Proposta  •  integração contínua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B84ED-DA4E-426A-B462-D3D1DB8E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195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Runner Windows para build e regressões. Reter logs e artefatos, sem jogos nem credenciais no repositório.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8938D9-AE82-45CD-AD82-680B0863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Proposta  •  entrega de releases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7A7CC7-07B7-4BE3-A0CB-C253B36A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482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Após QA, publicar artefatos e hash por tag. A atualização automática do aplicativo não aparece implementada. O script atual não inclui docs/ no git add.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E32252-8E2F-4F45-A7CC-5604338B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4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76"/>
                </a:solidFill>
                <a:latin typeface="Arial"/>
                <a:ea typeface="Arial"/>
                <a:cs typeface="Arial"/>
              </a:rPr>
              <a:t>DiscForge CHD    19 / 22</a:t>
            </a:r>
          </a:p>
        </p:txBody>
      </p:sp>
    </p:spTree>
    <p:extLst>
      <p:ext uri="{BB962C8B-B14F-4D97-AF65-F5344CB8AC3E}">
        <p14:creationId xmlns:p14="http://schemas.microsoft.com/office/powerpoint/2010/main" val="143917286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7B6DF1-0CC4-4BAE-A778-332E57B6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75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7564"/>
                </a:solidFill>
                <a:latin typeface="Arial"/>
                <a:ea typeface="Arial"/>
                <a:cs typeface="Arial"/>
              </a:rPr>
              <a:t>ANÁLISE E PROPOSTAS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B3AD61-4E67-4CB2-A1E9-3E006D5C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Riscos e mitigação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CD6AEB-16C3-4863-A829-C883334A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Integridade e disco temporário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11AF2E-D21A-4A00-B5B3-197FBD4B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621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Falha, pouco espaço ou corrupção podem interromper o lote. Manter verificação atual e adicionar testes de falta de espaço e retomada rigorosa.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9526B-68BC-44DC-ACDC-9D7C4AAA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Identificação e provedores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88FEF-F58E-4C60-9558-6D4F5B71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908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Heurística de 400 MiB e alterações no HTML externo podem afetar resultados. Testar parsing e permitir revisão de mídia.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A29BE-6425-4DC1-998E-DCC9BFBE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Binários e compatibilidade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48985-4912-4C0F-971B-CEB10C0C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195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Dependências embarcadas exigem validação de origem, licenças e CPUs. Documentar versões e testar atualização controlada.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5B7A4-972C-41DC-8ED9-A7EFE3B7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Manutenção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ADC31-774B-4264-905A-8AA42CA5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482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Classes parciais compartilham estado e testes não estão automatizados. Priorizar fixtures, interfaces de ferramentas e revisão das transições de estado.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C0C73E-4EBE-4E07-8096-BA6B1DB0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4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76"/>
                </a:solidFill>
                <a:latin typeface="Arial"/>
                <a:ea typeface="Arial"/>
                <a:cs typeface="Arial"/>
              </a:rPr>
              <a:t>DiscForge CHD    20 / 22</a:t>
            </a:r>
          </a:p>
        </p:txBody>
      </p:sp>
    </p:spTree>
    <p:extLst>
      <p:ext uri="{BB962C8B-B14F-4D97-AF65-F5344CB8AC3E}">
        <p14:creationId xmlns:p14="http://schemas.microsoft.com/office/powerpoint/2010/main" val="31419215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866B83-5B29-4C67-9950-14902966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75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7564"/>
                </a:solidFill>
                <a:latin typeface="Arial"/>
                <a:ea typeface="Arial"/>
                <a:cs typeface="Arial"/>
              </a:rPr>
              <a:t>SEQUÊNCIA SUGERIDA, SEM PRAZOS CONTRATADOS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BA034-191C-47E0-8CFD-470C9D76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Roadmap e próximos passos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00B7F-6D19-4E15-B371-AF631956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Agora  •  confiança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665740-FEEB-41C1-88D8-A2F481D6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621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Confirmar backlog com o mantenedor, registrar baseline e tornar testes de integridade reproduzíveis.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B8F21-40DC-49C2-B666-0018E13D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Depois  •  distribuição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6B94A-270B-430E-BB6C-FFF257A0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908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Adicionar CI Windows, documentar dependências/licenças e validar compatibilidade. Gate: regressões aprovadas.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88401-1D44-46EF-A026-E1159E01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Em seguida  •  experiência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56EEE2-1823-4D19-9C96-E32682F8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195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Avaliar identificação manual, acessibilidade e benchmarks. Priorizar com evidência de uso.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629F99-8213-46FD-B814-66A6B252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Manutenção contínua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E19E2B-93F5-48A9-AF59-7330AAE4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482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Triar bugs com versão/log sanitizado, revisar provedores e dependências, preservar changelog e revalidar documentação a cada mudança.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08DB1F-E702-4467-9C36-FCD0B582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4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76"/>
                </a:solidFill>
                <a:latin typeface="Arial"/>
                <a:ea typeface="Arial"/>
                <a:cs typeface="Arial"/>
              </a:rPr>
              <a:t>DiscForge CHD    21 / 22</a:t>
            </a:r>
          </a:p>
        </p:txBody>
      </p:sp>
    </p:spTree>
    <p:extLst>
      <p:ext uri="{BB962C8B-B14F-4D97-AF65-F5344CB8AC3E}">
        <p14:creationId xmlns:p14="http://schemas.microsoft.com/office/powerpoint/2010/main" val="209224101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B6457-C5E7-43A5-B2F6-4DE25029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75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7564"/>
                </a:solidFill>
                <a:latin typeface="Arial"/>
                <a:ea typeface="Arial"/>
                <a:cs typeface="Arial"/>
              </a:rPr>
              <a:t>REVISÃO 34a44a1 • 21/09/2026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02F91-577D-4CF5-912B-003C5134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Fontes e rastreabilidade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75112-59A4-491E-8F03-E033B1DF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Escopo e operação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BE2F63-2514-4FA4-A1D4-613C5462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621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README.md e LEIA-ME.txt. Funcionalidades, restrições de plataforma, formatos e dependências.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CD37F-D4C8-4324-AF3D-8760BF4B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Implementação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CA169-3A5E-4EA0-A926-FE0107BE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908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fontes/Processing, Configuration, Storage, Services e Application. Arquitetura e regras conferidas no código.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20901-9B5C-47F3-9FC3-CAB26636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Qualidade e distribuição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FE572F-9115-46C1-99EA-DF18FD2A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195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TESTES.txt, PUBLICACAO.md, Publicar.ps1 e fontes/compilar.ps1. Resultados declarados e processo de publicação.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35DF93-1B7B-4692-BE75-07E7B7EA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Como interpretar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D811A5-8DCB-4561-BBAA-0F12E6E1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48250"/>
            <a:ext cx="729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Links por slide nas notas do PPTX. Personas são inferências. Processo ágil, backlog, metas e roadmap são propostas, sem alegação de implementação.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600918-67CD-47E2-8B41-80BF5486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4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76"/>
                </a:solidFill>
                <a:latin typeface="Arial"/>
                <a:ea typeface="Arial"/>
                <a:cs typeface="Arial"/>
              </a:rPr>
              <a:t>DiscForge CHD    22 / 22</a:t>
            </a:r>
          </a:p>
        </p:txBody>
      </p:sp>
    </p:spTree>
    <p:extLst>
      <p:ext uri="{BB962C8B-B14F-4D97-AF65-F5344CB8AC3E}">
        <p14:creationId xmlns:p14="http://schemas.microsoft.com/office/powerpoint/2010/main" val="5467306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2026-09-21T14:13:53.3430000Z</dcterms:created>
  <dcterms:modified xsi:type="dcterms:W3CDTF">2026-09-21T14:13:53.3430000Z</dcterms:modified>
</coreProperties>
</file>